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04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CFCF76-5D53-1746-A558-256C76D40BD7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C36F1C-CA9E-544E-98CB-23F7CCF6D527}">
      <dgm:prSet phldrT="[Text]"/>
      <dgm:spPr/>
      <dgm:t>
        <a:bodyPr/>
        <a:lstStyle/>
        <a:p>
          <a:r>
            <a:rPr lang="en-US" dirty="0"/>
            <a:t>Year 1- Coupling Infrastructure</a:t>
          </a:r>
        </a:p>
      </dgm:t>
    </dgm:pt>
    <dgm:pt modelId="{EE0765F2-558D-EC48-A4FC-7AF7FE14F6E3}" type="parTrans" cxnId="{CB538A7F-B1DC-7A4E-94D5-482DBAAF2EBD}">
      <dgm:prSet/>
      <dgm:spPr/>
      <dgm:t>
        <a:bodyPr/>
        <a:lstStyle/>
        <a:p>
          <a:endParaRPr lang="en-US"/>
        </a:p>
      </dgm:t>
    </dgm:pt>
    <dgm:pt modelId="{669BD820-BF74-654C-8047-FDE9D68E51A1}" type="sibTrans" cxnId="{CB538A7F-B1DC-7A4E-94D5-482DBAAF2EBD}">
      <dgm:prSet/>
      <dgm:spPr/>
      <dgm:t>
        <a:bodyPr/>
        <a:lstStyle/>
        <a:p>
          <a:endParaRPr lang="en-US"/>
        </a:p>
      </dgm:t>
    </dgm:pt>
    <dgm:pt modelId="{F6629565-22BC-1C45-9C2C-9F6734C8CD9E}">
      <dgm:prSet phldrT="[Text]" custT="1"/>
      <dgm:spPr/>
      <dgm:t>
        <a:bodyPr/>
        <a:lstStyle/>
        <a:p>
          <a:r>
            <a:rPr lang="en-US" sz="1200" dirty="0"/>
            <a:t>Implement </a:t>
          </a:r>
          <a:r>
            <a:rPr lang="en-US" sz="1200" dirty="0" err="1"/>
            <a:t>OpenMC</a:t>
          </a:r>
          <a:r>
            <a:rPr lang="en-US" sz="1200" dirty="0"/>
            <a:t>-CFD Coupling Interface</a:t>
          </a:r>
        </a:p>
      </dgm:t>
    </dgm:pt>
    <dgm:pt modelId="{0E7A5126-2701-D548-9CFB-B8F71CFC0667}" type="parTrans" cxnId="{26EF5727-91E3-4549-8570-F045A4BB911E}">
      <dgm:prSet/>
      <dgm:spPr/>
      <dgm:t>
        <a:bodyPr/>
        <a:lstStyle/>
        <a:p>
          <a:endParaRPr lang="en-US"/>
        </a:p>
      </dgm:t>
    </dgm:pt>
    <dgm:pt modelId="{CB4D8117-2C00-584D-9D02-E41ED718DA46}" type="sibTrans" cxnId="{26EF5727-91E3-4549-8570-F045A4BB911E}">
      <dgm:prSet/>
      <dgm:spPr/>
      <dgm:t>
        <a:bodyPr/>
        <a:lstStyle/>
        <a:p>
          <a:endParaRPr lang="en-US"/>
        </a:p>
      </dgm:t>
    </dgm:pt>
    <dgm:pt modelId="{4186ABA3-90C4-884A-88F9-D9CB731A09B1}">
      <dgm:prSet phldrT="[Text]"/>
      <dgm:spPr/>
      <dgm:t>
        <a:bodyPr/>
        <a:lstStyle/>
        <a:p>
          <a:r>
            <a:rPr lang="en-US" dirty="0"/>
            <a:t>Year 2 – Precursor Drift &amp; 2-Phase Modeling</a:t>
          </a:r>
        </a:p>
      </dgm:t>
    </dgm:pt>
    <dgm:pt modelId="{985AF9CC-ED67-604C-86D5-4512209F86AA}" type="parTrans" cxnId="{9540E78B-D8ED-5A46-9B34-3CE654F2CED2}">
      <dgm:prSet/>
      <dgm:spPr/>
      <dgm:t>
        <a:bodyPr/>
        <a:lstStyle/>
        <a:p>
          <a:endParaRPr lang="en-US"/>
        </a:p>
      </dgm:t>
    </dgm:pt>
    <dgm:pt modelId="{21395B2F-BFA0-F84C-8F98-FD5C43062DCA}" type="sibTrans" cxnId="{9540E78B-D8ED-5A46-9B34-3CE654F2CED2}">
      <dgm:prSet/>
      <dgm:spPr/>
      <dgm:t>
        <a:bodyPr/>
        <a:lstStyle/>
        <a:p>
          <a:endParaRPr lang="en-US"/>
        </a:p>
      </dgm:t>
    </dgm:pt>
    <dgm:pt modelId="{63BEE2C3-BCFB-F94B-AC4D-E95D10A925B8}">
      <dgm:prSet phldrT="[Text]"/>
      <dgm:spPr/>
      <dgm:t>
        <a:bodyPr/>
        <a:lstStyle/>
        <a:p>
          <a:r>
            <a:rPr lang="en-US" dirty="0"/>
            <a:t>Add DHP &amp; DNP dynamic location functionality to </a:t>
          </a:r>
          <a:r>
            <a:rPr lang="en-US" dirty="0" err="1"/>
            <a:t>OpenMC</a:t>
          </a:r>
          <a:r>
            <a:rPr lang="en-US" dirty="0"/>
            <a:t>, implement drift data passing from MFC</a:t>
          </a:r>
        </a:p>
      </dgm:t>
    </dgm:pt>
    <dgm:pt modelId="{8C890362-188B-C346-8D28-DE821FA1833B}" type="parTrans" cxnId="{C0695FDD-7FB6-F645-88B3-611B95BFDA26}">
      <dgm:prSet/>
      <dgm:spPr/>
      <dgm:t>
        <a:bodyPr/>
        <a:lstStyle/>
        <a:p>
          <a:endParaRPr lang="en-US"/>
        </a:p>
      </dgm:t>
    </dgm:pt>
    <dgm:pt modelId="{2EA40D7A-EA93-4244-A3FC-4CCED5F64C79}" type="sibTrans" cxnId="{C0695FDD-7FB6-F645-88B3-611B95BFDA26}">
      <dgm:prSet/>
      <dgm:spPr/>
      <dgm:t>
        <a:bodyPr/>
        <a:lstStyle/>
        <a:p>
          <a:endParaRPr lang="en-US"/>
        </a:p>
      </dgm:t>
    </dgm:pt>
    <dgm:pt modelId="{94967248-F53C-444E-A9C8-F850F90DD4EC}">
      <dgm:prSet phldrT="[Text]"/>
      <dgm:spPr/>
      <dgm:t>
        <a:bodyPr/>
        <a:lstStyle/>
        <a:p>
          <a:r>
            <a:rPr lang="en-US" dirty="0"/>
            <a:t>Year 3 – Validation &amp; Transients</a:t>
          </a:r>
        </a:p>
      </dgm:t>
    </dgm:pt>
    <dgm:pt modelId="{60EC3089-31C7-B945-A4C9-F1C454A9E491}" type="parTrans" cxnId="{34D92AFF-5305-4740-A108-7AD9E726EBFB}">
      <dgm:prSet/>
      <dgm:spPr/>
      <dgm:t>
        <a:bodyPr/>
        <a:lstStyle/>
        <a:p>
          <a:endParaRPr lang="en-US"/>
        </a:p>
      </dgm:t>
    </dgm:pt>
    <dgm:pt modelId="{CF6FFC74-3F35-5745-9D40-6B57FE4CDBDB}" type="sibTrans" cxnId="{34D92AFF-5305-4740-A108-7AD9E726EBFB}">
      <dgm:prSet/>
      <dgm:spPr/>
      <dgm:t>
        <a:bodyPr/>
        <a:lstStyle/>
        <a:p>
          <a:endParaRPr lang="en-US"/>
        </a:p>
      </dgm:t>
    </dgm:pt>
    <dgm:pt modelId="{14E741D4-7E73-2E44-B63F-32905A705E69}">
      <dgm:prSet phldrT="[Text]"/>
      <dgm:spPr/>
      <dgm:t>
        <a:bodyPr/>
        <a:lstStyle/>
        <a:p>
          <a:r>
            <a:rPr lang="en-US" dirty="0"/>
            <a:t>Perform validation and benchmarking against literature</a:t>
          </a:r>
        </a:p>
      </dgm:t>
    </dgm:pt>
    <dgm:pt modelId="{4824FD53-3935-DE43-8D13-7EAE0816834C}" type="parTrans" cxnId="{41013B38-4EB3-2449-9A48-072EDAC8C25A}">
      <dgm:prSet/>
      <dgm:spPr/>
      <dgm:t>
        <a:bodyPr/>
        <a:lstStyle/>
        <a:p>
          <a:endParaRPr lang="en-US"/>
        </a:p>
      </dgm:t>
    </dgm:pt>
    <dgm:pt modelId="{E7448B9A-5602-6849-BFBD-3956897F0DFB}" type="sibTrans" cxnId="{41013B38-4EB3-2449-9A48-072EDAC8C25A}">
      <dgm:prSet/>
      <dgm:spPr/>
      <dgm:t>
        <a:bodyPr/>
        <a:lstStyle/>
        <a:p>
          <a:endParaRPr lang="en-US"/>
        </a:p>
      </dgm:t>
    </dgm:pt>
    <dgm:pt modelId="{158FE8AA-9830-6A4F-811F-44683E3F54D2}">
      <dgm:prSet phldrT="[Text]" custT="1"/>
      <dgm:spPr/>
      <dgm:t>
        <a:bodyPr/>
        <a:lstStyle/>
        <a:p>
          <a:r>
            <a:rPr lang="en-US" sz="1200" dirty="0"/>
            <a:t>Demonstrate steady-state single-phase calculations in complex geometry</a:t>
          </a:r>
        </a:p>
      </dgm:t>
    </dgm:pt>
    <dgm:pt modelId="{16F96EE0-EA7E-C74F-B572-F35272064A45}" type="parTrans" cxnId="{B54374A4-4345-AC4E-BCE1-07781E0C95F6}">
      <dgm:prSet/>
      <dgm:spPr/>
      <dgm:t>
        <a:bodyPr/>
        <a:lstStyle/>
        <a:p>
          <a:endParaRPr lang="en-US"/>
        </a:p>
      </dgm:t>
    </dgm:pt>
    <dgm:pt modelId="{DB93E766-1ED6-614A-969B-0A168110918A}" type="sibTrans" cxnId="{B54374A4-4345-AC4E-BCE1-07781E0C95F6}">
      <dgm:prSet/>
      <dgm:spPr/>
      <dgm:t>
        <a:bodyPr/>
        <a:lstStyle/>
        <a:p>
          <a:endParaRPr lang="en-US"/>
        </a:p>
      </dgm:t>
    </dgm:pt>
    <dgm:pt modelId="{88BC809D-C53E-9C40-9AF6-4C7275F70353}">
      <dgm:prSet phldrT="[Text]"/>
      <dgm:spPr/>
      <dgm:t>
        <a:bodyPr/>
        <a:lstStyle/>
        <a:p>
          <a:r>
            <a:rPr lang="en-US" dirty="0"/>
            <a:t>Implement two-phase helium-salt modeling</a:t>
          </a:r>
        </a:p>
      </dgm:t>
    </dgm:pt>
    <dgm:pt modelId="{507382D8-7B41-0544-A0EB-B435FAEE65F9}" type="parTrans" cxnId="{ECA80D24-E25F-5E40-BDD2-0CB6EDEF90EC}">
      <dgm:prSet/>
      <dgm:spPr/>
      <dgm:t>
        <a:bodyPr/>
        <a:lstStyle/>
        <a:p>
          <a:endParaRPr lang="en-US"/>
        </a:p>
      </dgm:t>
    </dgm:pt>
    <dgm:pt modelId="{641AE7AC-520B-7249-89AB-4A340F64C77E}" type="sibTrans" cxnId="{ECA80D24-E25F-5E40-BDD2-0CB6EDEF90EC}">
      <dgm:prSet/>
      <dgm:spPr/>
      <dgm:t>
        <a:bodyPr/>
        <a:lstStyle/>
        <a:p>
          <a:endParaRPr lang="en-US"/>
        </a:p>
      </dgm:t>
    </dgm:pt>
    <dgm:pt modelId="{DCB2167C-018C-BE41-A181-E076E3DFD508}">
      <dgm:prSet phldrT="[Text]"/>
      <dgm:spPr/>
      <dgm:t>
        <a:bodyPr/>
        <a:lstStyle/>
        <a:p>
          <a:r>
            <a:rPr lang="en-US" dirty="0"/>
            <a:t>Run realistic MSFR transient simulations</a:t>
          </a:r>
        </a:p>
      </dgm:t>
    </dgm:pt>
    <dgm:pt modelId="{DD7C43FB-742D-3048-B9BB-99090C370FF9}" type="parTrans" cxnId="{25B8C245-9EC5-1948-83C3-0BDE4E2F708B}">
      <dgm:prSet/>
      <dgm:spPr/>
      <dgm:t>
        <a:bodyPr/>
        <a:lstStyle/>
        <a:p>
          <a:endParaRPr lang="en-US"/>
        </a:p>
      </dgm:t>
    </dgm:pt>
    <dgm:pt modelId="{977D0B47-C8B4-4D4A-BF98-1F47F42DDF31}" type="sibTrans" cxnId="{25B8C245-9EC5-1948-83C3-0BDE4E2F708B}">
      <dgm:prSet/>
      <dgm:spPr/>
      <dgm:t>
        <a:bodyPr/>
        <a:lstStyle/>
        <a:p>
          <a:endParaRPr lang="en-US"/>
        </a:p>
      </dgm:t>
    </dgm:pt>
    <dgm:pt modelId="{01EB1561-64FC-E745-80FE-DA7477BDC7E5}">
      <dgm:prSet phldrT="[Text]"/>
      <dgm:spPr/>
      <dgm:t>
        <a:bodyPr/>
        <a:lstStyle/>
        <a:p>
          <a:r>
            <a:rPr lang="en-US" dirty="0"/>
            <a:t>Conduct sensitivity analyses (e.g., flow, void fraction, material properties)</a:t>
          </a:r>
        </a:p>
      </dgm:t>
    </dgm:pt>
    <dgm:pt modelId="{0A881191-06D9-294D-9ABD-544794858768}" type="parTrans" cxnId="{28CF1542-68AA-6145-A00F-4BDF2962AB3D}">
      <dgm:prSet/>
      <dgm:spPr/>
      <dgm:t>
        <a:bodyPr/>
        <a:lstStyle/>
        <a:p>
          <a:endParaRPr lang="en-US"/>
        </a:p>
      </dgm:t>
    </dgm:pt>
    <dgm:pt modelId="{43DA9E1F-397F-264D-8BA3-99C4C58EC0FA}" type="sibTrans" cxnId="{28CF1542-68AA-6145-A00F-4BDF2962AB3D}">
      <dgm:prSet/>
      <dgm:spPr/>
      <dgm:t>
        <a:bodyPr/>
        <a:lstStyle/>
        <a:p>
          <a:endParaRPr lang="en-US"/>
        </a:p>
      </dgm:t>
    </dgm:pt>
    <dgm:pt modelId="{B3ED4E7E-4A45-9841-8DC9-BE97852A059D}" type="pres">
      <dgm:prSet presAssocID="{BBCFCF76-5D53-1746-A558-256C76D40BD7}" presName="linearFlow" presStyleCnt="0">
        <dgm:presLayoutVars>
          <dgm:dir/>
          <dgm:animLvl val="lvl"/>
          <dgm:resizeHandles val="exact"/>
        </dgm:presLayoutVars>
      </dgm:prSet>
      <dgm:spPr/>
    </dgm:pt>
    <dgm:pt modelId="{895454DA-F487-CB46-87B2-12DF2EE15C4D}" type="pres">
      <dgm:prSet presAssocID="{3AC36F1C-CA9E-544E-98CB-23F7CCF6D527}" presName="composite" presStyleCnt="0"/>
      <dgm:spPr/>
    </dgm:pt>
    <dgm:pt modelId="{F6E20A51-5E84-5645-84C5-A3F64B55EA33}" type="pres">
      <dgm:prSet presAssocID="{3AC36F1C-CA9E-544E-98CB-23F7CCF6D52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BBD2E80-A7DE-7B40-A3F1-83CB5D892B0C}" type="pres">
      <dgm:prSet presAssocID="{3AC36F1C-CA9E-544E-98CB-23F7CCF6D527}" presName="parSh" presStyleLbl="node1" presStyleIdx="0" presStyleCnt="3"/>
      <dgm:spPr/>
    </dgm:pt>
    <dgm:pt modelId="{68FD3114-8A52-5449-804A-A78A100ED0DF}" type="pres">
      <dgm:prSet presAssocID="{3AC36F1C-CA9E-544E-98CB-23F7CCF6D527}" presName="desTx" presStyleLbl="fgAcc1" presStyleIdx="0" presStyleCnt="3" custScaleX="106534">
        <dgm:presLayoutVars>
          <dgm:bulletEnabled val="1"/>
        </dgm:presLayoutVars>
      </dgm:prSet>
      <dgm:spPr/>
    </dgm:pt>
    <dgm:pt modelId="{B116E4F5-14E9-904F-A4FC-670F5D6DF61A}" type="pres">
      <dgm:prSet presAssocID="{669BD820-BF74-654C-8047-FDE9D68E51A1}" presName="sibTrans" presStyleLbl="sibTrans2D1" presStyleIdx="0" presStyleCnt="2"/>
      <dgm:spPr/>
    </dgm:pt>
    <dgm:pt modelId="{73BB4A62-0931-D143-A32D-2E5A6F1F89E0}" type="pres">
      <dgm:prSet presAssocID="{669BD820-BF74-654C-8047-FDE9D68E51A1}" presName="connTx" presStyleLbl="sibTrans2D1" presStyleIdx="0" presStyleCnt="2"/>
      <dgm:spPr/>
    </dgm:pt>
    <dgm:pt modelId="{90EE92B2-598D-5F48-B645-34CAC8D82176}" type="pres">
      <dgm:prSet presAssocID="{4186ABA3-90C4-884A-88F9-D9CB731A09B1}" presName="composite" presStyleCnt="0"/>
      <dgm:spPr/>
    </dgm:pt>
    <dgm:pt modelId="{BEEB6520-0F9E-1042-AB88-0ADED594F60C}" type="pres">
      <dgm:prSet presAssocID="{4186ABA3-90C4-884A-88F9-D9CB731A09B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BF5BA9E-958F-5441-AFE6-497219453BB3}" type="pres">
      <dgm:prSet presAssocID="{4186ABA3-90C4-884A-88F9-D9CB731A09B1}" presName="parSh" presStyleLbl="node1" presStyleIdx="1" presStyleCnt="3"/>
      <dgm:spPr/>
    </dgm:pt>
    <dgm:pt modelId="{74007A10-6EE0-EB47-AB08-0B22224DB091}" type="pres">
      <dgm:prSet presAssocID="{4186ABA3-90C4-884A-88F9-D9CB731A09B1}" presName="desTx" presStyleLbl="fgAcc1" presStyleIdx="1" presStyleCnt="3" custScaleX="107530">
        <dgm:presLayoutVars>
          <dgm:bulletEnabled val="1"/>
        </dgm:presLayoutVars>
      </dgm:prSet>
      <dgm:spPr/>
    </dgm:pt>
    <dgm:pt modelId="{C9A7F6D4-D651-834C-AA59-9E7B6C11C164}" type="pres">
      <dgm:prSet presAssocID="{21395B2F-BFA0-F84C-8F98-FD5C43062DCA}" presName="sibTrans" presStyleLbl="sibTrans2D1" presStyleIdx="1" presStyleCnt="2"/>
      <dgm:spPr/>
    </dgm:pt>
    <dgm:pt modelId="{7BD9C984-FF2F-6141-88C0-96BC8F421966}" type="pres">
      <dgm:prSet presAssocID="{21395B2F-BFA0-F84C-8F98-FD5C43062DCA}" presName="connTx" presStyleLbl="sibTrans2D1" presStyleIdx="1" presStyleCnt="2"/>
      <dgm:spPr/>
    </dgm:pt>
    <dgm:pt modelId="{72EE5E9F-FC8C-7349-B081-E40F80C57E71}" type="pres">
      <dgm:prSet presAssocID="{94967248-F53C-444E-A9C8-F850F90DD4EC}" presName="composite" presStyleCnt="0"/>
      <dgm:spPr/>
    </dgm:pt>
    <dgm:pt modelId="{19944AA4-4AD2-9245-BB0C-0DA1C5913A55}" type="pres">
      <dgm:prSet presAssocID="{94967248-F53C-444E-A9C8-F850F90DD4EC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8EC99C9-5FDE-7946-AECC-E1B9F682DB88}" type="pres">
      <dgm:prSet presAssocID="{94967248-F53C-444E-A9C8-F850F90DD4EC}" presName="parSh" presStyleLbl="node1" presStyleIdx="2" presStyleCnt="3"/>
      <dgm:spPr/>
    </dgm:pt>
    <dgm:pt modelId="{C81213C4-3389-A94F-B531-456B934ACC32}" type="pres">
      <dgm:prSet presAssocID="{94967248-F53C-444E-A9C8-F850F90DD4EC}" presName="desTx" presStyleLbl="fgAcc1" presStyleIdx="2" presStyleCnt="3" custScaleX="108541">
        <dgm:presLayoutVars>
          <dgm:bulletEnabled val="1"/>
        </dgm:presLayoutVars>
      </dgm:prSet>
      <dgm:spPr/>
    </dgm:pt>
  </dgm:ptLst>
  <dgm:cxnLst>
    <dgm:cxn modelId="{571CDB00-F254-A54B-8538-8294094ECDE2}" type="presOf" srcId="{669BD820-BF74-654C-8047-FDE9D68E51A1}" destId="{73BB4A62-0931-D143-A32D-2E5A6F1F89E0}" srcOrd="1" destOrd="0" presId="urn:microsoft.com/office/officeart/2005/8/layout/process3"/>
    <dgm:cxn modelId="{0532F30D-3876-A54E-972D-6BD49DFD14B5}" type="presOf" srcId="{63BEE2C3-BCFB-F94B-AC4D-E95D10A925B8}" destId="{74007A10-6EE0-EB47-AB08-0B22224DB091}" srcOrd="0" destOrd="0" presId="urn:microsoft.com/office/officeart/2005/8/layout/process3"/>
    <dgm:cxn modelId="{B84AF722-5748-AB49-9AA5-EFC37C6469B4}" type="presOf" srcId="{88BC809D-C53E-9C40-9AF6-4C7275F70353}" destId="{74007A10-6EE0-EB47-AB08-0B22224DB091}" srcOrd="0" destOrd="1" presId="urn:microsoft.com/office/officeart/2005/8/layout/process3"/>
    <dgm:cxn modelId="{C2A9F823-F49E-C340-9498-448DD96F11C7}" type="presOf" srcId="{4186ABA3-90C4-884A-88F9-D9CB731A09B1}" destId="{BEEB6520-0F9E-1042-AB88-0ADED594F60C}" srcOrd="0" destOrd="0" presId="urn:microsoft.com/office/officeart/2005/8/layout/process3"/>
    <dgm:cxn modelId="{ECA80D24-E25F-5E40-BDD2-0CB6EDEF90EC}" srcId="{4186ABA3-90C4-884A-88F9-D9CB731A09B1}" destId="{88BC809D-C53E-9C40-9AF6-4C7275F70353}" srcOrd="1" destOrd="0" parTransId="{507382D8-7B41-0544-A0EB-B435FAEE65F9}" sibTransId="{641AE7AC-520B-7249-89AB-4A340F64C77E}"/>
    <dgm:cxn modelId="{26EF5727-91E3-4549-8570-F045A4BB911E}" srcId="{3AC36F1C-CA9E-544E-98CB-23F7CCF6D527}" destId="{F6629565-22BC-1C45-9C2C-9F6734C8CD9E}" srcOrd="0" destOrd="0" parTransId="{0E7A5126-2701-D548-9CFB-B8F71CFC0667}" sibTransId="{CB4D8117-2C00-584D-9D02-E41ED718DA46}"/>
    <dgm:cxn modelId="{76EFEF2D-94D1-8B45-A407-8A0F0717A496}" type="presOf" srcId="{DCB2167C-018C-BE41-A181-E076E3DFD508}" destId="{C81213C4-3389-A94F-B531-456B934ACC32}" srcOrd="0" destOrd="1" presId="urn:microsoft.com/office/officeart/2005/8/layout/process3"/>
    <dgm:cxn modelId="{41013B38-4EB3-2449-9A48-072EDAC8C25A}" srcId="{94967248-F53C-444E-A9C8-F850F90DD4EC}" destId="{14E741D4-7E73-2E44-B63F-32905A705E69}" srcOrd="0" destOrd="0" parTransId="{4824FD53-3935-DE43-8D13-7EAE0816834C}" sibTransId="{E7448B9A-5602-6849-BFBD-3956897F0DFB}"/>
    <dgm:cxn modelId="{E4369E3F-0036-DF4A-86DF-6FF1A9E2C39D}" type="presOf" srcId="{4186ABA3-90C4-884A-88F9-D9CB731A09B1}" destId="{9BF5BA9E-958F-5441-AFE6-497219453BB3}" srcOrd="1" destOrd="0" presId="urn:microsoft.com/office/officeart/2005/8/layout/process3"/>
    <dgm:cxn modelId="{28CF1542-68AA-6145-A00F-4BDF2962AB3D}" srcId="{94967248-F53C-444E-A9C8-F850F90DD4EC}" destId="{01EB1561-64FC-E745-80FE-DA7477BDC7E5}" srcOrd="2" destOrd="0" parTransId="{0A881191-06D9-294D-9ABD-544794858768}" sibTransId="{43DA9E1F-397F-264D-8BA3-99C4C58EC0FA}"/>
    <dgm:cxn modelId="{25B8C245-9EC5-1948-83C3-0BDE4E2F708B}" srcId="{94967248-F53C-444E-A9C8-F850F90DD4EC}" destId="{DCB2167C-018C-BE41-A181-E076E3DFD508}" srcOrd="1" destOrd="0" parTransId="{DD7C43FB-742D-3048-B9BB-99090C370FF9}" sibTransId="{977D0B47-C8B4-4D4A-BF98-1F47F42DDF31}"/>
    <dgm:cxn modelId="{3ECB7A7D-8A43-5340-9C3B-A4EB4DCD2002}" type="presOf" srcId="{94967248-F53C-444E-A9C8-F850F90DD4EC}" destId="{78EC99C9-5FDE-7946-AECC-E1B9F682DB88}" srcOrd="1" destOrd="0" presId="urn:microsoft.com/office/officeart/2005/8/layout/process3"/>
    <dgm:cxn modelId="{CB538A7F-B1DC-7A4E-94D5-482DBAAF2EBD}" srcId="{BBCFCF76-5D53-1746-A558-256C76D40BD7}" destId="{3AC36F1C-CA9E-544E-98CB-23F7CCF6D527}" srcOrd="0" destOrd="0" parTransId="{EE0765F2-558D-EC48-A4FC-7AF7FE14F6E3}" sibTransId="{669BD820-BF74-654C-8047-FDE9D68E51A1}"/>
    <dgm:cxn modelId="{FC181B86-403D-7B44-AF3B-888EDBF71549}" type="presOf" srcId="{3AC36F1C-CA9E-544E-98CB-23F7CCF6D527}" destId="{F6E20A51-5E84-5645-84C5-A3F64B55EA33}" srcOrd="0" destOrd="0" presId="urn:microsoft.com/office/officeart/2005/8/layout/process3"/>
    <dgm:cxn modelId="{9540E78B-D8ED-5A46-9B34-3CE654F2CED2}" srcId="{BBCFCF76-5D53-1746-A558-256C76D40BD7}" destId="{4186ABA3-90C4-884A-88F9-D9CB731A09B1}" srcOrd="1" destOrd="0" parTransId="{985AF9CC-ED67-604C-86D5-4512209F86AA}" sibTransId="{21395B2F-BFA0-F84C-8F98-FD5C43062DCA}"/>
    <dgm:cxn modelId="{41F6298C-462B-FD44-BF8A-177136ACD929}" type="presOf" srcId="{14E741D4-7E73-2E44-B63F-32905A705E69}" destId="{C81213C4-3389-A94F-B531-456B934ACC32}" srcOrd="0" destOrd="0" presId="urn:microsoft.com/office/officeart/2005/8/layout/process3"/>
    <dgm:cxn modelId="{48AB6D97-D2E0-0745-B5F9-F6DF1A9FA967}" type="presOf" srcId="{94967248-F53C-444E-A9C8-F850F90DD4EC}" destId="{19944AA4-4AD2-9245-BB0C-0DA1C5913A55}" srcOrd="0" destOrd="0" presId="urn:microsoft.com/office/officeart/2005/8/layout/process3"/>
    <dgm:cxn modelId="{02184C99-8D59-DC4E-946F-417E5AE35EB5}" type="presOf" srcId="{BBCFCF76-5D53-1746-A558-256C76D40BD7}" destId="{B3ED4E7E-4A45-9841-8DC9-BE97852A059D}" srcOrd="0" destOrd="0" presId="urn:microsoft.com/office/officeart/2005/8/layout/process3"/>
    <dgm:cxn modelId="{B54374A4-4345-AC4E-BCE1-07781E0C95F6}" srcId="{3AC36F1C-CA9E-544E-98CB-23F7CCF6D527}" destId="{158FE8AA-9830-6A4F-811F-44683E3F54D2}" srcOrd="1" destOrd="0" parTransId="{16F96EE0-EA7E-C74F-B572-F35272064A45}" sibTransId="{DB93E766-1ED6-614A-969B-0A168110918A}"/>
    <dgm:cxn modelId="{659653B1-F4A4-8645-A10B-412B63554C94}" type="presOf" srcId="{21395B2F-BFA0-F84C-8F98-FD5C43062DCA}" destId="{7BD9C984-FF2F-6141-88C0-96BC8F421966}" srcOrd="1" destOrd="0" presId="urn:microsoft.com/office/officeart/2005/8/layout/process3"/>
    <dgm:cxn modelId="{256C4BBD-4DEE-5E45-8BAC-43F71D299E4C}" type="presOf" srcId="{669BD820-BF74-654C-8047-FDE9D68E51A1}" destId="{B116E4F5-14E9-904F-A4FC-670F5D6DF61A}" srcOrd="0" destOrd="0" presId="urn:microsoft.com/office/officeart/2005/8/layout/process3"/>
    <dgm:cxn modelId="{62A397C0-469E-EC4F-862B-0395CB4132A2}" type="presOf" srcId="{158FE8AA-9830-6A4F-811F-44683E3F54D2}" destId="{68FD3114-8A52-5449-804A-A78A100ED0DF}" srcOrd="0" destOrd="1" presId="urn:microsoft.com/office/officeart/2005/8/layout/process3"/>
    <dgm:cxn modelId="{220C44C8-DA7A-8446-AC78-ACFBA756E713}" type="presOf" srcId="{21395B2F-BFA0-F84C-8F98-FD5C43062DCA}" destId="{C9A7F6D4-D651-834C-AA59-9E7B6C11C164}" srcOrd="0" destOrd="0" presId="urn:microsoft.com/office/officeart/2005/8/layout/process3"/>
    <dgm:cxn modelId="{EFF9EFCB-D5AD-6D41-9117-DF91C4C42DE6}" type="presOf" srcId="{01EB1561-64FC-E745-80FE-DA7477BDC7E5}" destId="{C81213C4-3389-A94F-B531-456B934ACC32}" srcOrd="0" destOrd="2" presId="urn:microsoft.com/office/officeart/2005/8/layout/process3"/>
    <dgm:cxn modelId="{C0695FDD-7FB6-F645-88B3-611B95BFDA26}" srcId="{4186ABA3-90C4-884A-88F9-D9CB731A09B1}" destId="{63BEE2C3-BCFB-F94B-AC4D-E95D10A925B8}" srcOrd="0" destOrd="0" parTransId="{8C890362-188B-C346-8D28-DE821FA1833B}" sibTransId="{2EA40D7A-EA93-4244-A3FC-4CCED5F64C79}"/>
    <dgm:cxn modelId="{9BEABDE5-3D57-E94F-BA76-BD39E3655E00}" type="presOf" srcId="{3AC36F1C-CA9E-544E-98CB-23F7CCF6D527}" destId="{4BBD2E80-A7DE-7B40-A3F1-83CB5D892B0C}" srcOrd="1" destOrd="0" presId="urn:microsoft.com/office/officeart/2005/8/layout/process3"/>
    <dgm:cxn modelId="{27B48BEC-5604-CA4E-AF1E-40FA38AC9FE7}" type="presOf" srcId="{F6629565-22BC-1C45-9C2C-9F6734C8CD9E}" destId="{68FD3114-8A52-5449-804A-A78A100ED0DF}" srcOrd="0" destOrd="0" presId="urn:microsoft.com/office/officeart/2005/8/layout/process3"/>
    <dgm:cxn modelId="{34D92AFF-5305-4740-A108-7AD9E726EBFB}" srcId="{BBCFCF76-5D53-1746-A558-256C76D40BD7}" destId="{94967248-F53C-444E-A9C8-F850F90DD4EC}" srcOrd="2" destOrd="0" parTransId="{60EC3089-31C7-B945-A4C9-F1C454A9E491}" sibTransId="{CF6FFC74-3F35-5745-9D40-6B57FE4CDBDB}"/>
    <dgm:cxn modelId="{17FC96EB-DD79-6B43-A742-FCE75B56D755}" type="presParOf" srcId="{B3ED4E7E-4A45-9841-8DC9-BE97852A059D}" destId="{895454DA-F487-CB46-87B2-12DF2EE15C4D}" srcOrd="0" destOrd="0" presId="urn:microsoft.com/office/officeart/2005/8/layout/process3"/>
    <dgm:cxn modelId="{15C435C2-C4D7-1D4F-8A8D-F763D702365B}" type="presParOf" srcId="{895454DA-F487-CB46-87B2-12DF2EE15C4D}" destId="{F6E20A51-5E84-5645-84C5-A3F64B55EA33}" srcOrd="0" destOrd="0" presId="urn:microsoft.com/office/officeart/2005/8/layout/process3"/>
    <dgm:cxn modelId="{AACB7AEC-C019-9C4E-881B-63F4FF3B65C1}" type="presParOf" srcId="{895454DA-F487-CB46-87B2-12DF2EE15C4D}" destId="{4BBD2E80-A7DE-7B40-A3F1-83CB5D892B0C}" srcOrd="1" destOrd="0" presId="urn:microsoft.com/office/officeart/2005/8/layout/process3"/>
    <dgm:cxn modelId="{95062AEB-67F7-F943-A812-AE43B1984B35}" type="presParOf" srcId="{895454DA-F487-CB46-87B2-12DF2EE15C4D}" destId="{68FD3114-8A52-5449-804A-A78A100ED0DF}" srcOrd="2" destOrd="0" presId="urn:microsoft.com/office/officeart/2005/8/layout/process3"/>
    <dgm:cxn modelId="{2A0C8C7C-D416-EE4F-8953-F974CAC2942C}" type="presParOf" srcId="{B3ED4E7E-4A45-9841-8DC9-BE97852A059D}" destId="{B116E4F5-14E9-904F-A4FC-670F5D6DF61A}" srcOrd="1" destOrd="0" presId="urn:microsoft.com/office/officeart/2005/8/layout/process3"/>
    <dgm:cxn modelId="{7D2C1F6A-595A-5A4A-AD51-891ED095825D}" type="presParOf" srcId="{B116E4F5-14E9-904F-A4FC-670F5D6DF61A}" destId="{73BB4A62-0931-D143-A32D-2E5A6F1F89E0}" srcOrd="0" destOrd="0" presId="urn:microsoft.com/office/officeart/2005/8/layout/process3"/>
    <dgm:cxn modelId="{5E239575-7ADC-404E-9812-5AF20E6C4E57}" type="presParOf" srcId="{B3ED4E7E-4A45-9841-8DC9-BE97852A059D}" destId="{90EE92B2-598D-5F48-B645-34CAC8D82176}" srcOrd="2" destOrd="0" presId="urn:microsoft.com/office/officeart/2005/8/layout/process3"/>
    <dgm:cxn modelId="{D131EF0D-958C-8D4B-AD20-6D89ACACF78A}" type="presParOf" srcId="{90EE92B2-598D-5F48-B645-34CAC8D82176}" destId="{BEEB6520-0F9E-1042-AB88-0ADED594F60C}" srcOrd="0" destOrd="0" presId="urn:microsoft.com/office/officeart/2005/8/layout/process3"/>
    <dgm:cxn modelId="{C699EEA4-097C-6349-A485-FA7789D38C15}" type="presParOf" srcId="{90EE92B2-598D-5F48-B645-34CAC8D82176}" destId="{9BF5BA9E-958F-5441-AFE6-497219453BB3}" srcOrd="1" destOrd="0" presId="urn:microsoft.com/office/officeart/2005/8/layout/process3"/>
    <dgm:cxn modelId="{AAB807ED-75CC-FB45-900C-2A6D2C10F5BF}" type="presParOf" srcId="{90EE92B2-598D-5F48-B645-34CAC8D82176}" destId="{74007A10-6EE0-EB47-AB08-0B22224DB091}" srcOrd="2" destOrd="0" presId="urn:microsoft.com/office/officeart/2005/8/layout/process3"/>
    <dgm:cxn modelId="{7A7426F4-5803-F746-B1F7-D66CEF905479}" type="presParOf" srcId="{B3ED4E7E-4A45-9841-8DC9-BE97852A059D}" destId="{C9A7F6D4-D651-834C-AA59-9E7B6C11C164}" srcOrd="3" destOrd="0" presId="urn:microsoft.com/office/officeart/2005/8/layout/process3"/>
    <dgm:cxn modelId="{58B030EA-9587-0240-98FB-C6D8F5357263}" type="presParOf" srcId="{C9A7F6D4-D651-834C-AA59-9E7B6C11C164}" destId="{7BD9C984-FF2F-6141-88C0-96BC8F421966}" srcOrd="0" destOrd="0" presId="urn:microsoft.com/office/officeart/2005/8/layout/process3"/>
    <dgm:cxn modelId="{11EA5C0B-3B2C-4642-8054-F358AA71DABD}" type="presParOf" srcId="{B3ED4E7E-4A45-9841-8DC9-BE97852A059D}" destId="{72EE5E9F-FC8C-7349-B081-E40F80C57E71}" srcOrd="4" destOrd="0" presId="urn:microsoft.com/office/officeart/2005/8/layout/process3"/>
    <dgm:cxn modelId="{AD34A593-678F-534A-A966-D84D19565AE8}" type="presParOf" srcId="{72EE5E9F-FC8C-7349-B081-E40F80C57E71}" destId="{19944AA4-4AD2-9245-BB0C-0DA1C5913A55}" srcOrd="0" destOrd="0" presId="urn:microsoft.com/office/officeart/2005/8/layout/process3"/>
    <dgm:cxn modelId="{CC8D9E96-9A4B-7E45-9C38-D96EBD2E95F0}" type="presParOf" srcId="{72EE5E9F-FC8C-7349-B081-E40F80C57E71}" destId="{78EC99C9-5FDE-7946-AECC-E1B9F682DB88}" srcOrd="1" destOrd="0" presId="urn:microsoft.com/office/officeart/2005/8/layout/process3"/>
    <dgm:cxn modelId="{3BD66055-E079-D749-A78D-D12DDE94E9C6}" type="presParOf" srcId="{72EE5E9F-FC8C-7349-B081-E40F80C57E71}" destId="{C81213C4-3389-A94F-B531-456B934ACC32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D2E80-A7DE-7B40-A3F1-83CB5D892B0C}">
      <dsp:nvSpPr>
        <dsp:cNvPr id="0" name=""/>
        <dsp:cNvSpPr/>
      </dsp:nvSpPr>
      <dsp:spPr>
        <a:xfrm>
          <a:off x="4410" y="91374"/>
          <a:ext cx="1704471" cy="995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Year 1- Coupling Infrastructure</a:t>
          </a:r>
        </a:p>
      </dsp:txBody>
      <dsp:txXfrm>
        <a:off x="4410" y="91374"/>
        <a:ext cx="1704471" cy="663777"/>
      </dsp:txXfrm>
    </dsp:sp>
    <dsp:sp modelId="{68FD3114-8A52-5449-804A-A78A100ED0DF}">
      <dsp:nvSpPr>
        <dsp:cNvPr id="0" name=""/>
        <dsp:cNvSpPr/>
      </dsp:nvSpPr>
      <dsp:spPr>
        <a:xfrm>
          <a:off x="297833" y="755151"/>
          <a:ext cx="1815841" cy="2255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Implement </a:t>
          </a:r>
          <a:r>
            <a:rPr lang="en-US" sz="1200" kern="1200" dirty="0" err="1"/>
            <a:t>OpenMC</a:t>
          </a:r>
          <a:r>
            <a:rPr lang="en-US" sz="1200" kern="1200" dirty="0"/>
            <a:t>-CFD Coupling Interface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Demonstrate steady-state single-phase calculations in complex geometry</a:t>
          </a:r>
        </a:p>
      </dsp:txBody>
      <dsp:txXfrm>
        <a:off x="351017" y="808335"/>
        <a:ext cx="1709473" cy="2149081"/>
      </dsp:txXfrm>
    </dsp:sp>
    <dsp:sp modelId="{B116E4F5-14E9-904F-A4FC-670F5D6DF61A}">
      <dsp:nvSpPr>
        <dsp:cNvPr id="0" name=""/>
        <dsp:cNvSpPr/>
      </dsp:nvSpPr>
      <dsp:spPr>
        <a:xfrm>
          <a:off x="1981194" y="211080"/>
          <a:ext cx="577303" cy="424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981194" y="295953"/>
        <a:ext cx="449994" cy="254618"/>
      </dsp:txXfrm>
    </dsp:sp>
    <dsp:sp modelId="{9BF5BA9E-958F-5441-AFE6-497219453BB3}">
      <dsp:nvSpPr>
        <dsp:cNvPr id="0" name=""/>
        <dsp:cNvSpPr/>
      </dsp:nvSpPr>
      <dsp:spPr>
        <a:xfrm>
          <a:off x="2798133" y="91374"/>
          <a:ext cx="1704471" cy="995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Year 2 – Precursor Drift &amp; 2-Phase Modeling</a:t>
          </a:r>
        </a:p>
      </dsp:txBody>
      <dsp:txXfrm>
        <a:off x="2798133" y="91374"/>
        <a:ext cx="1704471" cy="663777"/>
      </dsp:txXfrm>
    </dsp:sp>
    <dsp:sp modelId="{74007A10-6EE0-EB47-AB08-0B22224DB091}">
      <dsp:nvSpPr>
        <dsp:cNvPr id="0" name=""/>
        <dsp:cNvSpPr/>
      </dsp:nvSpPr>
      <dsp:spPr>
        <a:xfrm>
          <a:off x="3083068" y="755151"/>
          <a:ext cx="1832818" cy="2255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Add DHP &amp; DNP dynamic location functionality to </a:t>
          </a:r>
          <a:r>
            <a:rPr lang="en-US" sz="1300" kern="1200" dirty="0" err="1"/>
            <a:t>OpenMC</a:t>
          </a:r>
          <a:r>
            <a:rPr lang="en-US" sz="1300" kern="1200" dirty="0"/>
            <a:t>, implement drift data passing from MFC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Implement two-phase helium-salt modeling</a:t>
          </a:r>
        </a:p>
      </dsp:txBody>
      <dsp:txXfrm>
        <a:off x="3136749" y="808832"/>
        <a:ext cx="1725456" cy="2148087"/>
      </dsp:txXfrm>
    </dsp:sp>
    <dsp:sp modelId="{C9A7F6D4-D651-834C-AA59-9E7B6C11C164}">
      <dsp:nvSpPr>
        <dsp:cNvPr id="0" name=""/>
        <dsp:cNvSpPr/>
      </dsp:nvSpPr>
      <dsp:spPr>
        <a:xfrm>
          <a:off x="4777040" y="211080"/>
          <a:ext cx="581802" cy="424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777040" y="295953"/>
        <a:ext cx="454493" cy="254618"/>
      </dsp:txXfrm>
    </dsp:sp>
    <dsp:sp modelId="{78EC99C9-5FDE-7946-AECC-E1B9F682DB88}">
      <dsp:nvSpPr>
        <dsp:cNvPr id="0" name=""/>
        <dsp:cNvSpPr/>
      </dsp:nvSpPr>
      <dsp:spPr>
        <a:xfrm>
          <a:off x="5600345" y="91374"/>
          <a:ext cx="1704471" cy="995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Year 3 – Validation &amp; Transients</a:t>
          </a:r>
        </a:p>
      </dsp:txBody>
      <dsp:txXfrm>
        <a:off x="5600345" y="91374"/>
        <a:ext cx="1704471" cy="663777"/>
      </dsp:txXfrm>
    </dsp:sp>
    <dsp:sp modelId="{C81213C4-3389-A94F-B531-456B934ACC32}">
      <dsp:nvSpPr>
        <dsp:cNvPr id="0" name=""/>
        <dsp:cNvSpPr/>
      </dsp:nvSpPr>
      <dsp:spPr>
        <a:xfrm>
          <a:off x="5876664" y="755151"/>
          <a:ext cx="1850050" cy="2255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 validation and benchmarking against literature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Run realistic MSFR transient simulations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Conduct sensitivity analyses (e.g., flow, void fraction, material properties)</a:t>
          </a:r>
        </a:p>
      </dsp:txBody>
      <dsp:txXfrm>
        <a:off x="5930850" y="809337"/>
        <a:ext cx="1741678" cy="2147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57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5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93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9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23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2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7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1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1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7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C8D4D09-B447-4448-852E-93716A340CD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99E2297-2191-BC48-80C6-AC4D2CBB7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1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BC28-F1E9-CCD8-D239-04D4BB52D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199" y="1046828"/>
            <a:ext cx="8991600" cy="1645920"/>
          </a:xfrm>
        </p:spPr>
        <p:txBody>
          <a:bodyPr>
            <a:noAutofit/>
          </a:bodyPr>
          <a:lstStyle/>
          <a:p>
            <a:r>
              <a:rPr lang="en-US" sz="2000" b="1" dirty="0"/>
              <a:t>Coupling of Monte Carlo Neutronics with Two-Phase CFD for Molten Salt Fast Reactor Analysis in Realistic Geometry: Modeling Delayed Neutron and Decay Heat Precursor Drift</a:t>
            </a: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4216F-D6DA-2DE9-05DC-AD2488F7E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2630" y="2940577"/>
            <a:ext cx="4566740" cy="426279"/>
          </a:xfrm>
        </p:spPr>
        <p:txBody>
          <a:bodyPr/>
          <a:lstStyle/>
          <a:p>
            <a:r>
              <a:rPr lang="en-US" dirty="0"/>
              <a:t>Research Proposal by Samuel Kokomoor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80256-E30D-2810-1340-885956FF0FD9}"/>
              </a:ext>
            </a:extLst>
          </p:cNvPr>
          <p:cNvSpPr/>
          <p:nvPr/>
        </p:nvSpPr>
        <p:spPr>
          <a:xfrm>
            <a:off x="4403492" y="3614685"/>
            <a:ext cx="3385013" cy="291778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2A1CA-C54E-73E6-EA61-DDE7AF3EC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492" y="3614685"/>
            <a:ext cx="3385013" cy="29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7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9574-7793-286E-BE31-3428CB0F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539" y="675287"/>
            <a:ext cx="5446921" cy="885371"/>
          </a:xfrm>
        </p:spPr>
        <p:txBody>
          <a:bodyPr>
            <a:noAutofit/>
          </a:bodyPr>
          <a:lstStyle/>
          <a:p>
            <a:r>
              <a:rPr lang="en-US" sz="1800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FD61A-3D37-FAD8-390A-580DA11D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2" y="1745416"/>
            <a:ext cx="7837714" cy="67121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Current state-of-the-art MSFR simulations fail to capture closely-coupled neutronics and thermal-hydraulics interactions and their effects on core efficiency and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4A144-92EC-A379-86F4-FE0FB03C671A}"/>
              </a:ext>
            </a:extLst>
          </p:cNvPr>
          <p:cNvSpPr/>
          <p:nvPr/>
        </p:nvSpPr>
        <p:spPr>
          <a:xfrm>
            <a:off x="1250605" y="2489198"/>
            <a:ext cx="2597921" cy="15174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1AE1A-096E-17EB-D0E0-2758BBBF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05" y="2489199"/>
            <a:ext cx="1417653" cy="1517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1D3FC6-3B5E-C228-06E6-6DD1BF09A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258" y="2489199"/>
            <a:ext cx="1180269" cy="15174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9FB988-1413-B8B7-A338-13E5BB20A0D2}"/>
              </a:ext>
            </a:extLst>
          </p:cNvPr>
          <p:cNvSpPr/>
          <p:nvPr/>
        </p:nvSpPr>
        <p:spPr>
          <a:xfrm>
            <a:off x="2726315" y="2522966"/>
            <a:ext cx="197423" cy="150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0628F-830E-1856-C4AB-BAF1A2B0861A}"/>
              </a:ext>
            </a:extLst>
          </p:cNvPr>
          <p:cNvSpPr txBox="1"/>
          <p:nvPr/>
        </p:nvSpPr>
        <p:spPr>
          <a:xfrm>
            <a:off x="3906583" y="2489198"/>
            <a:ext cx="236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Deng et al. Couple </a:t>
            </a:r>
            <a:r>
              <a:rPr lang="en-US" sz="1200" dirty="0" err="1"/>
              <a:t>OpenMC</a:t>
            </a:r>
            <a:r>
              <a:rPr lang="en-US" sz="1200" dirty="0"/>
              <a:t> and </a:t>
            </a:r>
            <a:r>
              <a:rPr lang="en-US" sz="1200" dirty="0" err="1"/>
              <a:t>OpenFOAM</a:t>
            </a:r>
            <a:r>
              <a:rPr lang="en-US" sz="1200" dirty="0"/>
              <a:t>, but do no DNP, DHP, or Helium Bubbling Analysis.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7A3F80-0997-FAA4-8135-B63211C7A308}"/>
              </a:ext>
            </a:extLst>
          </p:cNvPr>
          <p:cNvSpPr/>
          <p:nvPr/>
        </p:nvSpPr>
        <p:spPr>
          <a:xfrm>
            <a:off x="8343475" y="2505043"/>
            <a:ext cx="2597921" cy="15174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9584F8-5EE3-3C9B-61CF-706919B548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321"/>
          <a:stretch>
            <a:fillRect/>
          </a:stretch>
        </p:blipFill>
        <p:spPr>
          <a:xfrm>
            <a:off x="8343476" y="2505044"/>
            <a:ext cx="2597921" cy="15174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6D2B13-7AC8-87AF-CD1A-8988AFD9579A}"/>
              </a:ext>
            </a:extLst>
          </p:cNvPr>
          <p:cNvSpPr/>
          <p:nvPr/>
        </p:nvSpPr>
        <p:spPr>
          <a:xfrm>
            <a:off x="10527739" y="2863532"/>
            <a:ext cx="406400" cy="264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E9B5E-581E-8F69-94C0-73B3D3387DAC}"/>
              </a:ext>
            </a:extLst>
          </p:cNvPr>
          <p:cNvSpPr txBox="1"/>
          <p:nvPr/>
        </p:nvSpPr>
        <p:spPr>
          <a:xfrm>
            <a:off x="4610518" y="3394330"/>
            <a:ext cx="3732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Kim et al. Couple </a:t>
            </a:r>
            <a:r>
              <a:rPr lang="en-US" sz="1200" dirty="0" err="1"/>
              <a:t>iMC</a:t>
            </a:r>
            <a:r>
              <a:rPr lang="en-US" sz="1200" dirty="0"/>
              <a:t> and </a:t>
            </a:r>
            <a:r>
              <a:rPr lang="en-US" sz="1200" dirty="0" err="1"/>
              <a:t>OpenFOAM</a:t>
            </a:r>
            <a:r>
              <a:rPr lang="en-US" sz="1200" dirty="0"/>
              <a:t> and analyze spatiotemporal DNP &amp; DHP drift, but only in two dimensions, simplified geometry, and incompressible flow.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5BA9F-94A7-03E3-F1B7-D8142C377DCB}"/>
              </a:ext>
            </a:extLst>
          </p:cNvPr>
          <p:cNvSpPr/>
          <p:nvPr/>
        </p:nvSpPr>
        <p:spPr>
          <a:xfrm>
            <a:off x="1243346" y="4665223"/>
            <a:ext cx="2597921" cy="15174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8075EE-48FA-9FB1-DF73-BCFFD9E1F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347" y="4665225"/>
            <a:ext cx="2597921" cy="15174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A09971-C111-A547-B2B1-0972C9A7D211}"/>
              </a:ext>
            </a:extLst>
          </p:cNvPr>
          <p:cNvSpPr txBox="1"/>
          <p:nvPr/>
        </p:nvSpPr>
        <p:spPr>
          <a:xfrm>
            <a:off x="3906583" y="4567687"/>
            <a:ext cx="4163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Cervi et al. demonstrated a one-way neutronics-CFD coupling approach using </a:t>
            </a:r>
            <a:r>
              <a:rPr lang="en-US" sz="1200" dirty="0" err="1"/>
              <a:t>OpenFOAM</a:t>
            </a:r>
            <a:r>
              <a:rPr lang="en-US" sz="1200" dirty="0"/>
              <a:t> and Serpent 2, but did not model DNP &amp; DHP drift in a Monte Carlo solver, nor use continuous 2-way coupling to accurately capture neutronics-CFD interplay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3AB2D-053F-36D2-139E-253BF8D53798}"/>
              </a:ext>
            </a:extLst>
          </p:cNvPr>
          <p:cNvSpPr/>
          <p:nvPr/>
        </p:nvSpPr>
        <p:spPr>
          <a:xfrm>
            <a:off x="8336218" y="4681615"/>
            <a:ext cx="2597920" cy="149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C195CB-9311-C8CF-CF82-FBA727E52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218" y="4683096"/>
            <a:ext cx="2597921" cy="14996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C46821-FFD4-627A-03AF-FECE73201894}"/>
              </a:ext>
            </a:extLst>
          </p:cNvPr>
          <p:cNvSpPr txBox="1"/>
          <p:nvPr/>
        </p:nvSpPr>
        <p:spPr>
          <a:xfrm>
            <a:off x="4395314" y="5544186"/>
            <a:ext cx="4163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Dalinger et al. demonstrated a high-fidelity MSFR simulation using Cardinal (</a:t>
            </a:r>
            <a:r>
              <a:rPr lang="en-US" sz="1200" dirty="0" err="1"/>
              <a:t>OpenMC</a:t>
            </a:r>
            <a:r>
              <a:rPr lang="en-US" sz="1200" dirty="0"/>
              <a:t> + </a:t>
            </a:r>
            <a:r>
              <a:rPr lang="en-US" sz="1200" dirty="0" err="1"/>
              <a:t>NekRs</a:t>
            </a:r>
            <a:r>
              <a:rPr lang="en-US" sz="1200" dirty="0"/>
              <a:t>), capturing convective transport of DHPs and DNPs, but did not model two-phase compressible flow or realistic geometry.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2DA29-3BCF-8397-055F-B6BFBA17F862}"/>
              </a:ext>
            </a:extLst>
          </p:cNvPr>
          <p:cNvSpPr txBox="1"/>
          <p:nvPr/>
        </p:nvSpPr>
        <p:spPr>
          <a:xfrm>
            <a:off x="1204688" y="3972725"/>
            <a:ext cx="2643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Deng et al., “Coupled simulation of the Molten Salt Fast Reactor using </a:t>
            </a:r>
            <a:r>
              <a:rPr lang="en-US" sz="800" i="1" dirty="0" err="1"/>
              <a:t>OpenFOAM</a:t>
            </a:r>
            <a:r>
              <a:rPr lang="en-US" sz="800" i="1" dirty="0"/>
              <a:t> and </a:t>
            </a:r>
            <a:r>
              <a:rPr lang="en-US" sz="800" i="1" dirty="0" err="1"/>
              <a:t>OpenMC</a:t>
            </a:r>
            <a:r>
              <a:rPr lang="en-US" sz="800" i="1" dirty="0"/>
              <a:t>,”</a:t>
            </a:r>
            <a:r>
              <a:rPr lang="en-US" sz="800" dirty="0"/>
              <a:t> </a:t>
            </a:r>
            <a:r>
              <a:rPr lang="en-US" sz="800" dirty="0" err="1"/>
              <a:t>Nucl</a:t>
            </a:r>
            <a:r>
              <a:rPr lang="en-US" sz="800" dirty="0"/>
              <a:t>. Sci. Tech., 2020.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628035-928B-1E73-A4B2-25C80F6EEC93}"/>
              </a:ext>
            </a:extLst>
          </p:cNvPr>
          <p:cNvSpPr txBox="1"/>
          <p:nvPr/>
        </p:nvSpPr>
        <p:spPr>
          <a:xfrm>
            <a:off x="1197428" y="6154756"/>
            <a:ext cx="2643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Cervi et al., “Multiphysics analysis of the MSFR helium bubbling system,”</a:t>
            </a:r>
            <a:r>
              <a:rPr lang="en-US" sz="800" dirty="0"/>
              <a:t> Ann. </a:t>
            </a:r>
            <a:r>
              <a:rPr lang="en-US" sz="800" dirty="0" err="1"/>
              <a:t>Nucl</a:t>
            </a:r>
            <a:r>
              <a:rPr lang="en-US" sz="800" dirty="0"/>
              <a:t>. Energy, vol. 126, pp. 227–239, 2019.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110A0A-44F5-5465-51BB-16CE4488EFFE}"/>
              </a:ext>
            </a:extLst>
          </p:cNvPr>
          <p:cNvSpPr txBox="1"/>
          <p:nvPr/>
        </p:nvSpPr>
        <p:spPr>
          <a:xfrm>
            <a:off x="8313258" y="3993450"/>
            <a:ext cx="2643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Kim et al., “Monte Carlo–CFD coupling for delayed neutron transport in MSRs,”</a:t>
            </a:r>
            <a:r>
              <a:rPr lang="en-US" sz="800" dirty="0"/>
              <a:t> Ann. </a:t>
            </a:r>
            <a:r>
              <a:rPr lang="en-US" sz="800" dirty="0" err="1"/>
              <a:t>Nucl</a:t>
            </a:r>
            <a:r>
              <a:rPr lang="en-US" sz="800" dirty="0"/>
              <a:t>. Energy, in press, 2025.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7F82AA-54F0-C62A-6B9D-2134803D0D92}"/>
              </a:ext>
            </a:extLst>
          </p:cNvPr>
          <p:cNvSpPr txBox="1"/>
          <p:nvPr/>
        </p:nvSpPr>
        <p:spPr>
          <a:xfrm>
            <a:off x="8297557" y="6173855"/>
            <a:ext cx="2643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Dalinger et al., “High-fidelity transient simulation of the MSFR with </a:t>
            </a:r>
            <a:r>
              <a:rPr lang="en-US" sz="800" i="1" dirty="0" err="1"/>
              <a:t>OpenMC</a:t>
            </a:r>
            <a:r>
              <a:rPr lang="en-US" sz="800" i="1" dirty="0"/>
              <a:t> and </a:t>
            </a:r>
            <a:r>
              <a:rPr lang="en-US" sz="800" i="1" dirty="0" err="1"/>
              <a:t>NekRS</a:t>
            </a:r>
            <a:r>
              <a:rPr lang="en-US" sz="800" i="1" dirty="0"/>
              <a:t> coupling,”</a:t>
            </a:r>
            <a:r>
              <a:rPr lang="en-US" sz="800" dirty="0"/>
              <a:t> Proc. NURETH-21, 2025.</a:t>
            </a:r>
          </a:p>
        </p:txBody>
      </p:sp>
    </p:spTree>
    <p:extLst>
      <p:ext uri="{BB962C8B-B14F-4D97-AF65-F5344CB8AC3E}">
        <p14:creationId xmlns:p14="http://schemas.microsoft.com/office/powerpoint/2010/main" val="2040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77ED-E4A2-4CB7-9DF9-CE1D7B74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Research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D84CCD-073A-872E-E9CC-8FFE28CF3D2E}"/>
              </a:ext>
            </a:extLst>
          </p:cNvPr>
          <p:cNvSpPr/>
          <p:nvPr/>
        </p:nvSpPr>
        <p:spPr>
          <a:xfrm>
            <a:off x="1187957" y="2703907"/>
            <a:ext cx="4626864" cy="310198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CBA1B37-F110-EC81-8A93-EC2E98F6540F}"/>
              </a:ext>
            </a:extLst>
          </p:cNvPr>
          <p:cNvSpPr/>
          <p:nvPr/>
        </p:nvSpPr>
        <p:spPr>
          <a:xfrm>
            <a:off x="1795961" y="4938847"/>
            <a:ext cx="593162" cy="5481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49AB4B-3CD3-5941-DC26-F55F1292961D}"/>
              </a:ext>
            </a:extLst>
          </p:cNvPr>
          <p:cNvSpPr/>
          <p:nvPr/>
        </p:nvSpPr>
        <p:spPr>
          <a:xfrm>
            <a:off x="1387746" y="3393262"/>
            <a:ext cx="1433286" cy="165100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687034-EDAB-AF3B-4876-A766190215D0}"/>
              </a:ext>
            </a:extLst>
          </p:cNvPr>
          <p:cNvSpPr/>
          <p:nvPr/>
        </p:nvSpPr>
        <p:spPr>
          <a:xfrm>
            <a:off x="4138421" y="3393262"/>
            <a:ext cx="1433286" cy="165100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BA53BD-21E4-31F1-C2EF-EAD7D7E5CF9F}"/>
              </a:ext>
            </a:extLst>
          </p:cNvPr>
          <p:cNvCxnSpPr>
            <a:cxnSpLocks/>
          </p:cNvCxnSpPr>
          <p:nvPr/>
        </p:nvCxnSpPr>
        <p:spPr>
          <a:xfrm>
            <a:off x="2821032" y="3803291"/>
            <a:ext cx="13173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A9A23B-C363-4D61-9F49-249A501D85C2}"/>
              </a:ext>
            </a:extLst>
          </p:cNvPr>
          <p:cNvSpPr txBox="1"/>
          <p:nvPr/>
        </p:nvSpPr>
        <p:spPr>
          <a:xfrm>
            <a:off x="2859131" y="3429000"/>
            <a:ext cx="1284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Power Distribution Precursor Concentrations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5F7234-4C12-6DE5-308D-9C84EDA24946}"/>
              </a:ext>
            </a:extLst>
          </p:cNvPr>
          <p:cNvCxnSpPr>
            <a:cxnSpLocks/>
          </p:cNvCxnSpPr>
          <p:nvPr/>
        </p:nvCxnSpPr>
        <p:spPr>
          <a:xfrm flipH="1">
            <a:off x="2821032" y="4645119"/>
            <a:ext cx="13173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BD941B-78F0-0308-DDB9-4F99D215068C}"/>
              </a:ext>
            </a:extLst>
          </p:cNvPr>
          <p:cNvSpPr txBox="1"/>
          <p:nvPr/>
        </p:nvSpPr>
        <p:spPr>
          <a:xfrm>
            <a:off x="3078153" y="4213321"/>
            <a:ext cx="91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Density Temperature Void Fraction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89D9073-3CCD-01C6-01D9-B79EBF1E9998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3450040" y="3983347"/>
            <a:ext cx="344109" cy="24659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740DC95-020F-7C87-2A7B-66CB83A942F3}"/>
              </a:ext>
            </a:extLst>
          </p:cNvPr>
          <p:cNvSpPr txBox="1"/>
          <p:nvPr/>
        </p:nvSpPr>
        <p:spPr>
          <a:xfrm>
            <a:off x="2997127" y="5172928"/>
            <a:ext cx="919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DHP, DNP Fields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88948E-3D9D-EFA5-8349-4BD98B3E3869}"/>
              </a:ext>
            </a:extLst>
          </p:cNvPr>
          <p:cNvSpPr txBox="1"/>
          <p:nvPr/>
        </p:nvSpPr>
        <p:spPr>
          <a:xfrm>
            <a:off x="1683766" y="3593276"/>
            <a:ext cx="894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OpenMC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A71DF-82EF-78D2-24D8-76BC3AE7AE4C}"/>
              </a:ext>
            </a:extLst>
          </p:cNvPr>
          <p:cNvSpPr txBox="1"/>
          <p:nvPr/>
        </p:nvSpPr>
        <p:spPr>
          <a:xfrm>
            <a:off x="4419600" y="3664791"/>
            <a:ext cx="1106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CFD-Solver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87CE66-36AF-587B-D4DE-D568845E495A}"/>
              </a:ext>
            </a:extLst>
          </p:cNvPr>
          <p:cNvSpPr txBox="1"/>
          <p:nvPr/>
        </p:nvSpPr>
        <p:spPr>
          <a:xfrm>
            <a:off x="4356136" y="3962112"/>
            <a:ext cx="113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Compressible Two-Phase Navier-Stokes + Heat Transport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5ACFA7-F594-F536-AB58-2D347A53FC1D}"/>
              </a:ext>
            </a:extLst>
          </p:cNvPr>
          <p:cNvSpPr txBox="1"/>
          <p:nvPr/>
        </p:nvSpPr>
        <p:spPr>
          <a:xfrm>
            <a:off x="1668925" y="4023667"/>
            <a:ext cx="1016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K-eigenvalue Neutron Transport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F21C19-45F6-0C3A-A7C0-241FD5ADC9E6}"/>
              </a:ext>
            </a:extLst>
          </p:cNvPr>
          <p:cNvSpPr txBox="1"/>
          <p:nvPr/>
        </p:nvSpPr>
        <p:spPr>
          <a:xfrm>
            <a:off x="1839948" y="5034773"/>
            <a:ext cx="68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Update DHPs &amp; DNPs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E45D0B-AF37-319C-5799-4338888DADBD}"/>
              </a:ext>
            </a:extLst>
          </p:cNvPr>
          <p:cNvSpPr txBox="1"/>
          <p:nvPr/>
        </p:nvSpPr>
        <p:spPr>
          <a:xfrm>
            <a:off x="6096000" y="3220722"/>
            <a:ext cx="4385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development of a closely-coupled, high-fidelity neutronics-CFD solver capable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Solving two-phase, bubbly, compressible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Simulating DNP &amp; DHP drift in liquid fuel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Simulating realistic mesh-based geometries</a:t>
            </a:r>
          </a:p>
        </p:txBody>
      </p:sp>
    </p:spTree>
    <p:extLst>
      <p:ext uri="{BB962C8B-B14F-4D97-AF65-F5344CB8AC3E}">
        <p14:creationId xmlns:p14="http://schemas.microsoft.com/office/powerpoint/2010/main" val="276391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97A6-5FBC-6A20-A675-233A657B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 &amp; Timeline*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BA001C-A6C8-BA6F-D58D-C5E894638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219602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69484B-8C12-8E63-5B21-CA5CD78523AA}"/>
              </a:ext>
            </a:extLst>
          </p:cNvPr>
          <p:cNvSpPr txBox="1"/>
          <p:nvPr/>
        </p:nvSpPr>
        <p:spPr>
          <a:xfrm>
            <a:off x="3203448" y="5740400"/>
            <a:ext cx="5785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*Work plan modularized and adjustable to 2-4-year timeline depending on program/researcher scope. See proposal document for details</a:t>
            </a:r>
          </a:p>
        </p:txBody>
      </p:sp>
    </p:spTree>
    <p:extLst>
      <p:ext uri="{BB962C8B-B14F-4D97-AF65-F5344CB8AC3E}">
        <p14:creationId xmlns:p14="http://schemas.microsoft.com/office/powerpoint/2010/main" val="164432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8295-0B58-9F4E-0E8B-D1F788EE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AD851-80BE-71E6-C776-9B182BD9B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Coupled </a:t>
            </a:r>
            <a:r>
              <a:rPr lang="en-US" dirty="0" err="1"/>
              <a:t>OpenMC</a:t>
            </a:r>
            <a:r>
              <a:rPr lang="en-US" dirty="0"/>
              <a:t>–CFD Simulation Framework</a:t>
            </a:r>
          </a:p>
          <a:p>
            <a:pPr lvl="1"/>
            <a:r>
              <a:rPr lang="en-US" dirty="0"/>
              <a:t>Full integration of Monte Carlo neutronics with compressible, two-phase thermal-hydraulics in arbitrary mesh geometries, supporting exascale compute.</a:t>
            </a:r>
          </a:p>
          <a:p>
            <a:r>
              <a:rPr lang="en-US" dirty="0"/>
              <a:t>DNP &amp; DHP Transport and Deposition Capability</a:t>
            </a:r>
          </a:p>
          <a:p>
            <a:pPr lvl="1"/>
            <a:r>
              <a:rPr lang="en-US" dirty="0"/>
              <a:t>Groupwise precursor advection–decay modeling with spatially resolved delayed neutron emission and decay-heat deposition.</a:t>
            </a:r>
          </a:p>
          <a:p>
            <a:r>
              <a:rPr lang="en-US" dirty="0"/>
              <a:t>End-to-End MSFR Simulation Functionality</a:t>
            </a:r>
          </a:p>
          <a:p>
            <a:pPr lvl="1"/>
            <a:r>
              <a:rPr lang="en-US" dirty="0"/>
              <a:t>Steady-state and transient operation with full neutronic–thermal–hydraulic feedback.</a:t>
            </a:r>
          </a:p>
          <a:p>
            <a:r>
              <a:rPr lang="en-US" dirty="0"/>
              <a:t>Sensitivity and Parametric Analysis Toolkit</a:t>
            </a:r>
          </a:p>
          <a:p>
            <a:pPr lvl="1"/>
            <a:r>
              <a:rPr lang="en-US" dirty="0"/>
              <a:t>Systematic evaluation of flow rate, void fraction, geometry, and thermal feedback effects on reactor performance and safety.</a:t>
            </a:r>
          </a:p>
        </p:txBody>
      </p:sp>
    </p:spTree>
    <p:extLst>
      <p:ext uri="{BB962C8B-B14F-4D97-AF65-F5344CB8AC3E}">
        <p14:creationId xmlns:p14="http://schemas.microsoft.com/office/powerpoint/2010/main" val="3834889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8A26-9542-00A6-9DDB-98B219D4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2C2E5-21AB-7F3E-B3CA-C0E3E4C30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D. Zhao, L. Yan, T. Jiang, S. Peng, and B. Yue (2022). </a:t>
            </a:r>
            <a:r>
              <a:rPr lang="en-US" i="1" dirty="0"/>
              <a:t>"Multiphysics Simulation Study of the Electrorefining Process of Spent Nuclear Fuel from LiCl-KCl Eutectic Molten Salt."</a:t>
            </a:r>
            <a:r>
              <a:rPr lang="en-US" dirty="0"/>
              <a:t> Journal of The Electrochemical Society, 169(7), 046520.</a:t>
            </a:r>
          </a:p>
          <a:p>
            <a:r>
              <a:rPr lang="en-US" dirty="0"/>
              <a:t>B. Deng, Z. Zhang, Y. Liu, </a:t>
            </a:r>
            <a:r>
              <a:rPr lang="en-US" b="1" dirty="0"/>
              <a:t>et al.</a:t>
            </a:r>
            <a:r>
              <a:rPr lang="en-US" dirty="0"/>
              <a:t> (2020). </a:t>
            </a:r>
            <a:r>
              <a:rPr lang="en-US" i="1" dirty="0"/>
              <a:t>"Core and blanket thermal–hydraulic analysis of a molten salt fast reactor based on coupling of </a:t>
            </a:r>
            <a:r>
              <a:rPr lang="en-US" i="1" dirty="0" err="1"/>
              <a:t>OpenMC</a:t>
            </a:r>
            <a:r>
              <a:rPr lang="en-US" i="1" dirty="0"/>
              <a:t> and </a:t>
            </a:r>
            <a:r>
              <a:rPr lang="en-US" i="1" dirty="0" err="1"/>
              <a:t>OpenFOAM</a:t>
            </a:r>
            <a:r>
              <a:rPr lang="en-US" i="1" dirty="0"/>
              <a:t>."</a:t>
            </a:r>
            <a:r>
              <a:rPr lang="en-US" dirty="0"/>
              <a:t> Nuclear Science and Techniques, 31:85.</a:t>
            </a:r>
          </a:p>
          <a:p>
            <a:r>
              <a:rPr lang="en-US" dirty="0"/>
              <a:t>D. </a:t>
            </a:r>
            <a:r>
              <a:rPr lang="en-US" dirty="0" err="1"/>
              <a:t>Gérardin</a:t>
            </a:r>
            <a:r>
              <a:rPr lang="en-US" dirty="0"/>
              <a:t>, M. </a:t>
            </a:r>
            <a:r>
              <a:rPr lang="en-US" dirty="0" err="1"/>
              <a:t>Allibert</a:t>
            </a:r>
            <a:r>
              <a:rPr lang="en-US" dirty="0"/>
              <a:t>, D. Heuer, A. </a:t>
            </a:r>
            <a:r>
              <a:rPr lang="en-US" dirty="0" err="1"/>
              <a:t>Laureau</a:t>
            </a:r>
            <a:r>
              <a:rPr lang="en-US" dirty="0"/>
              <a:t>, E. Merle-</a:t>
            </a:r>
            <a:r>
              <a:rPr lang="en-US" dirty="0" err="1"/>
              <a:t>Lucotte</a:t>
            </a:r>
            <a:r>
              <a:rPr lang="en-US" dirty="0"/>
              <a:t>, and C. </a:t>
            </a:r>
            <a:r>
              <a:rPr lang="en-US" dirty="0" err="1"/>
              <a:t>Seuvre</a:t>
            </a:r>
            <a:r>
              <a:rPr lang="en-US" dirty="0"/>
              <a:t> (2017). </a:t>
            </a:r>
            <a:r>
              <a:rPr lang="en-US" i="1" dirty="0"/>
              <a:t>"Design Evolutions of the Molten Salt Fast Reactor."</a:t>
            </a:r>
            <a:r>
              <a:rPr lang="en-US" dirty="0"/>
              <a:t> Proceedings of the International Conference on Fast Reactors and Related Fuel Cycles (FR17), Yekaterinburg, Russia.</a:t>
            </a:r>
          </a:p>
          <a:p>
            <a:r>
              <a:rPr lang="en-US" dirty="0"/>
              <a:t>E. Cervi, S. Lorenzi, A. Cammi, and L. Luzzi (2019). </a:t>
            </a:r>
            <a:r>
              <a:rPr lang="en-US" i="1" dirty="0"/>
              <a:t>"Development of a </a:t>
            </a:r>
            <a:r>
              <a:rPr lang="en-US" i="1" dirty="0" err="1"/>
              <a:t>multiphysics</a:t>
            </a:r>
            <a:r>
              <a:rPr lang="en-US" i="1" dirty="0"/>
              <a:t> model for the study of fuel compressibility effects in the Molten Salt Fast Reactor."</a:t>
            </a:r>
            <a:r>
              <a:rPr lang="en-US" dirty="0"/>
              <a:t> Chemical Engineering Science, 193, 379–393.</a:t>
            </a:r>
          </a:p>
          <a:p>
            <a:r>
              <a:rPr lang="en-US" dirty="0"/>
              <a:t>M. Dalinger, E. </a:t>
            </a:r>
            <a:r>
              <a:rPr lang="en-US" dirty="0" err="1"/>
              <a:t>Merzari</a:t>
            </a:r>
            <a:r>
              <a:rPr lang="en-US" dirty="0"/>
              <a:t>, S. Lee, and C. Emler (2025). </a:t>
            </a:r>
            <a:r>
              <a:rPr lang="en-US" i="1" dirty="0"/>
              <a:t>"High-Fidelity Modelling of the Molten Salt Fast Reactor."</a:t>
            </a:r>
            <a:r>
              <a:rPr lang="en-US" dirty="0"/>
              <a:t> Proceedings of NURETH-21 (21st Int. Topical Meeting on Nuclear Reactor Thermal Hydraulics), Paper 2507.</a:t>
            </a:r>
          </a:p>
          <a:p>
            <a:r>
              <a:rPr lang="en-US" dirty="0"/>
              <a:t>H. Kim, J. Smith, L. Chen, and R. Alvarez (2025). “Monte Carlo–CFD Coupling for Delayed Neutron Transport in MSRs.” </a:t>
            </a:r>
            <a:r>
              <a:rPr lang="en-US" i="1" dirty="0"/>
              <a:t>Annals of Nuclear Energy</a:t>
            </a:r>
            <a:r>
              <a:rPr lang="en-US" dirty="0"/>
              <a:t>, in press.</a:t>
            </a:r>
          </a:p>
        </p:txBody>
      </p:sp>
    </p:spTree>
    <p:extLst>
      <p:ext uri="{BB962C8B-B14F-4D97-AF65-F5344CB8AC3E}">
        <p14:creationId xmlns:p14="http://schemas.microsoft.com/office/powerpoint/2010/main" val="231730879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4355</TotalTime>
  <Words>838</Words>
  <Application>Microsoft Macintosh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Coupling of Monte Carlo Neutronics with Two-Phase CFD for Molten Salt Fast Reactor Analysis in Realistic Geometry: Modeling Delayed Neutron and Decay Heat Precursor Drift</vt:lpstr>
      <vt:lpstr>Background and Motivation</vt:lpstr>
      <vt:lpstr>Proposed Research</vt:lpstr>
      <vt:lpstr>Work Plan &amp; Timeline*</vt:lpstr>
      <vt:lpstr>Deliverables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Kokomoor</dc:creator>
  <cp:lastModifiedBy>Samuel Kokomoor</cp:lastModifiedBy>
  <cp:revision>7</cp:revision>
  <dcterms:created xsi:type="dcterms:W3CDTF">2025-11-13T02:43:08Z</dcterms:created>
  <dcterms:modified xsi:type="dcterms:W3CDTF">2025-11-16T03:18:40Z</dcterms:modified>
</cp:coreProperties>
</file>